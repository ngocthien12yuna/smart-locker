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5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frG5uB+u3PA3rEs7tHI10JLnw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">
  <p:cSld name="Trang trình bà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 b="22106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56139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3"/>
          </p:nvPr>
        </p:nvSpPr>
        <p:spPr>
          <a:xfrm>
            <a:off x="6172200" y="1161462"/>
            <a:ext cx="56139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6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bìa">
  <p:cSld name="Trang bìa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ctrTitle"/>
          </p:nvPr>
        </p:nvSpPr>
        <p:spPr>
          <a:xfrm>
            <a:off x="1314446" y="1482493"/>
            <a:ext cx="95631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649308" y="3345742"/>
            <a:ext cx="6893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dt" idx="10"/>
          </p:nvPr>
        </p:nvSpPr>
        <p:spPr>
          <a:xfrm>
            <a:off x="544286" y="635634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904514" y="635272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2">
            <a:alphaModFix/>
          </a:blip>
          <a:srcRect b="22106"/>
          <a:stretch/>
        </p:blipFill>
        <p:spPr>
          <a:xfrm>
            <a:off x="209550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46" y="105396"/>
            <a:ext cx="1074606" cy="88752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/>
        </p:nvSpPr>
        <p:spPr>
          <a:xfrm>
            <a:off x="2389052" y="46793"/>
            <a:ext cx="6281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 Chi Minh City University of Technology and Education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Electrical &amp; Electronics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&amp; Communications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2917485" y="4390831"/>
            <a:ext cx="635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2917485" y="4964127"/>
            <a:ext cx="6357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70226" y="130842"/>
            <a:ext cx="3393886" cy="85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nội dung">
  <p:cSld name="Trang nội dung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22106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113802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6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 - 2 cột">
  <p:cSld name="Trang trình bày - 2 cộ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 b="22106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64323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3"/>
          </p:nvPr>
        </p:nvSpPr>
        <p:spPr>
          <a:xfrm>
            <a:off x="6917636" y="1161463"/>
            <a:ext cx="4868400" cy="24960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4"/>
          </p:nvPr>
        </p:nvSpPr>
        <p:spPr>
          <a:xfrm>
            <a:off x="6917634" y="3729052"/>
            <a:ext cx="4868400" cy="24960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6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 - Trắng">
  <p:cSld name="Trang trình bày - Trắng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p11"/>
          <p:cNvPicPr preferRelativeResize="0"/>
          <p:nvPr/>
        </p:nvPicPr>
        <p:blipFill rotWithShape="1">
          <a:blip r:embed="rId2">
            <a:alphaModFix/>
          </a:blip>
          <a:srcRect b="22106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61539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3"/>
          </p:nvPr>
        </p:nvSpPr>
        <p:spPr>
          <a:xfrm>
            <a:off x="6649278" y="1161462"/>
            <a:ext cx="5136900" cy="507030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6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kết thúc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/>
        </p:nvSpPr>
        <p:spPr>
          <a:xfrm>
            <a:off x="1168502" y="2484438"/>
            <a:ext cx="98550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is the best way of learning</a:t>
            </a:r>
            <a:endParaRPr sz="4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bìa">
  <p:cSld name="Trang bìa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ctrTitle"/>
          </p:nvPr>
        </p:nvSpPr>
        <p:spPr>
          <a:xfrm>
            <a:off x="1314446" y="1482493"/>
            <a:ext cx="9563102" cy="152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Times New Roman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2649308" y="3345742"/>
            <a:ext cx="6893379" cy="44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544286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904514" y="63527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 rotWithShape="1">
          <a:blip r:embed="rId2">
            <a:alphaModFix/>
          </a:blip>
          <a:srcRect b="22105"/>
          <a:stretch/>
        </p:blipFill>
        <p:spPr>
          <a:xfrm>
            <a:off x="209550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46" y="105396"/>
            <a:ext cx="1074606" cy="88752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2389052" y="46793"/>
            <a:ext cx="628117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 Chi Minh City University of Technology and Education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Electrical &amp; Electronics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&amp; Communications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917485" y="4390831"/>
            <a:ext cx="6357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3"/>
          </p:nvPr>
        </p:nvSpPr>
        <p:spPr>
          <a:xfrm>
            <a:off x="2917485" y="4964127"/>
            <a:ext cx="6357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70226" y="130842"/>
            <a:ext cx="3393885" cy="85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nội dung">
  <p:cSld name="Trang nội dung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83" cy="695492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2">
            <a:alphaModFix/>
          </a:blip>
          <a:srcRect b="22105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11380305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5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">
  <p:cSld name="Trang trình bà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83" cy="695492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2">
            <a:alphaModFix/>
          </a:blip>
          <a:srcRect b="22105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5613953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3"/>
          </p:nvPr>
        </p:nvSpPr>
        <p:spPr>
          <a:xfrm>
            <a:off x="6172200" y="1161462"/>
            <a:ext cx="5613953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5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 - 2 cột">
  <p:cSld name="Trang trình bày - 2 cộ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83" cy="695492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2">
            <a:alphaModFix/>
          </a:blip>
          <a:srcRect b="22105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6432275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3"/>
          </p:nvPr>
        </p:nvSpPr>
        <p:spPr>
          <a:xfrm>
            <a:off x="6917636" y="1161463"/>
            <a:ext cx="4868516" cy="2496138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4"/>
          </p:nvPr>
        </p:nvSpPr>
        <p:spPr>
          <a:xfrm>
            <a:off x="6917634" y="3729052"/>
            <a:ext cx="4868517" cy="2496138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5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ình bày - Trắng">
  <p:cSld name="Trang trình bày - Trắng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2219324" y="201414"/>
            <a:ext cx="6839783" cy="695492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dt" idx="10"/>
          </p:nvPr>
        </p:nvSpPr>
        <p:spPr>
          <a:xfrm>
            <a:off x="405847" y="6356350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ftr" idx="11"/>
          </p:nvPr>
        </p:nvSpPr>
        <p:spPr>
          <a:xfrm>
            <a:off x="4038599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7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2">
            <a:alphaModFix/>
          </a:blip>
          <a:srcRect b="22105"/>
          <a:stretch/>
        </p:blipFill>
        <p:spPr>
          <a:xfrm>
            <a:off x="78921" y="76880"/>
            <a:ext cx="946231" cy="944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152" y="107308"/>
            <a:ext cx="1065287" cy="8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>
            <a:spLocks noGrp="1"/>
          </p:cNvSpPr>
          <p:nvPr>
            <p:ph type="body" idx="2"/>
          </p:nvPr>
        </p:nvSpPr>
        <p:spPr>
          <a:xfrm>
            <a:off x="405847" y="1161462"/>
            <a:ext cx="6153979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3"/>
          </p:nvPr>
        </p:nvSpPr>
        <p:spPr>
          <a:xfrm>
            <a:off x="6649278" y="1161462"/>
            <a:ext cx="5136875" cy="5070353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6244" y="174833"/>
            <a:ext cx="2986835" cy="748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kết thúc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1168502" y="2484438"/>
            <a:ext cx="9854996" cy="94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Sharing is the best way of learning</a:t>
            </a:r>
            <a:endParaRPr sz="44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ransition spd="slow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470" y="1640644"/>
            <a:ext cx="10983058" cy="941656"/>
          </a:xfrm>
        </p:spPr>
        <p:txBody>
          <a:bodyPr wrap="square">
            <a:normAutofit fontScale="90000"/>
          </a:bodyPr>
          <a:lstStyle/>
          <a:p>
            <a:pPr algn="ctr"/>
            <a:r>
              <a:rPr lang="en-US" sz="32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THIẾT KẾ </a:t>
            </a:r>
            <a:r>
              <a:rPr sz="32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HỆ THỐNG SMARTLOCKER TÍCH HỢP AI OCR VÀ IOT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3352799" y="3429000"/>
            <a:ext cx="5486400" cy="41148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20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GVHD: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ThS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Huỳnh Hoàng Hà</a:t>
            </a:r>
            <a:endParaRPr sz="20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478843"/>
              </p:ext>
            </p:extLst>
          </p:nvPr>
        </p:nvGraphicFramePr>
        <p:xfrm>
          <a:off x="2882411" y="3977640"/>
          <a:ext cx="6427177" cy="2286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9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4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STT</a:t>
                      </a:r>
                      <a:endParaRPr sz="15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Sinh viên thực hiện</a:t>
                      </a:r>
                      <a:endParaRPr sz="15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</a:rPr>
                        <a:t>MSSV</a:t>
                      </a:r>
                      <a:endParaRPr sz="15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Nguyễn Thái Anh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000000"/>
                          </a:solidFill>
                        </a:rPr>
                        <a:t>23139002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000000"/>
                          </a:solidFill>
                        </a:rPr>
                        <a:t>Vũ Quốc Bảo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000000"/>
                          </a:solidFill>
                        </a:rPr>
                        <a:t>23139004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3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Nguyễn Võ Thái Sơn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000000"/>
                          </a:solidFill>
                        </a:rPr>
                        <a:t>23139040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4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Trần Ngọc Thiện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000000"/>
                          </a:solidFill>
                        </a:rPr>
                        <a:t>23139045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Đỗ Hoàng Xuân Tiến</a:t>
                      </a:r>
                      <a:endParaRPr sz="1500" b="0" i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rgbClr val="000000"/>
                          </a:solidFill>
                        </a:rPr>
                        <a:t>23139047</a:t>
                      </a:r>
                      <a:endParaRPr sz="1500" b="0" i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CE72A52-B8F4-E1A9-892E-4158F0E8C5BB}"/>
              </a:ext>
            </a:extLst>
          </p:cNvPr>
          <p:cNvSpPr txBox="1">
            <a:spLocks/>
          </p:cNvSpPr>
          <p:nvPr/>
        </p:nvSpPr>
        <p:spPr>
          <a:xfrm>
            <a:off x="3352799" y="279991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Môn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học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Đặt vấn đề và lý do chọn đề tài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84632" y="1188720"/>
            <a:ext cx="11219688" cy="9601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48640" y="1216152"/>
            <a:ext cx="11091672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Thương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mại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tử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làm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số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kiện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hàng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giao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đến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chung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cư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ký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túc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khu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dân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cư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văn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phòng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tăng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nhanh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Với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giao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trực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tiếp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Shipper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phải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có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mặt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cùng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một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thời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điểm</a:t>
            </a:r>
            <a:r>
              <a:rPr sz="1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4632" y="2377440"/>
            <a:ext cx="5440680" cy="38404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30352" y="2423160"/>
            <a:ext cx="5349240" cy="3749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Hạn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chế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của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cách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giao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nay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vắng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mặt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hàng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gửi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bảo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vệ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hoặc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khu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vực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chung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dễ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thất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lạc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nhầm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khó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truy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vết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trách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nhiệm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Liên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lạc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nhiều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lần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kéo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dài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giao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hàng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Nhập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tay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số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thoại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trên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bill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chậm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dễ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sai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Ứng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dụng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điều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khiển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relay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trực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tiếp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dễ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làm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trạng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thái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vật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lý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tách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dữ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liệu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nghiệp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vụ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6254496" y="2377440"/>
            <a:ext cx="5440680" cy="38404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300216" y="2423160"/>
            <a:ext cx="5349240" cy="3015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Hướng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giải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quyết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của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đề</a:t>
            </a:r>
            <a:r>
              <a:rPr sz="21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tài</a:t>
            </a:r>
            <a:endParaRPr sz="2100" b="1" i="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Tủ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hàng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tách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điểm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giao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khỏi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điểm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</a:t>
            </a:r>
            <a:r>
              <a:rPr sz="190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làm</a:t>
            </a: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trung</a:t>
            </a: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tâm</a:t>
            </a: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thực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phân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quyền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cấp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ô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tủ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OTP,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lịch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sử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lệnh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phần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cứng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OCR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chạy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trên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Android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đọc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số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thoại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từ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90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lệnh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từ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Backend,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điều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khiển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relay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phản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hồi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kết</a:t>
            </a:r>
            <a:r>
              <a:rPr sz="19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quả</a:t>
            </a:r>
            <a:endParaRPr sz="19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Mục tiêu và phạm vi của đề tài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02336" y="1188720"/>
            <a:ext cx="5614416" cy="1874519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585216" y="13716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25296" y="1298448"/>
            <a:ext cx="4663440" cy="1691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Mobile App ba vai trò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Ứng dụng React Native cho Shipper, Cư dân và Quản trị viên; mỗi vai trò đăng nhập và chỉ truy cập đúng chức năng.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172200" y="1188720"/>
            <a:ext cx="5614416" cy="1874519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995160" y="1298448"/>
            <a:ext cx="4663440" cy="1691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Backend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dữ</a:t>
            </a: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liệu</a:t>
            </a:r>
            <a:endParaRPr sz="1900" b="1" i="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4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 Node.js/Express,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lưu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dữ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liệu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bằng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SQLite,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triển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khai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trên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Railway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có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volume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để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giữ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tệp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cơ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sở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dữ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liệu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02336" y="3246120"/>
            <a:ext cx="5614416" cy="1874519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585216" y="34290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25296" y="3355848"/>
            <a:ext cx="4663440" cy="1691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AI OCR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trên</a:t>
            </a: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9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thoại</a:t>
            </a:r>
            <a:endParaRPr sz="1900" b="1" i="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400"/>
              </a:spcAft>
              <a:buNone/>
            </a:pP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PP-OCRv6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chạy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bằng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ONNX Runtime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trên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Android,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dạng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số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thoại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từ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</a:t>
            </a:r>
            <a:r>
              <a:rPr sz="17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bill.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72200" y="3246120"/>
            <a:ext cx="5614416" cy="1874519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355080" y="342900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3355848"/>
            <a:ext cx="4663440" cy="1691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Phần cứng IoT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Firmware ESP32 xác thực với Backend, lấy lệnh OPEN/CLOSE, điều khiển bốn kênh relay và gửi ACK.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02336" y="5349240"/>
            <a:ext cx="11384280" cy="868680"/>
          </a:xfrm>
          <a:prstGeom prst="rect">
            <a:avLst/>
          </a:prstGeom>
          <a:solidFill>
            <a:srgbClr val="E7F0F9"/>
          </a:solidFill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02920" y="5376672"/>
            <a:ext cx="112014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Phạm vi: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mô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hình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 ô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tủ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A01, A02, B01, B05 (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cùng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kích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thước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quy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ước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M);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chế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độ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chạy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SOFTWARE (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mô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phỏng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tại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Backend)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ESP32 (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điều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khiển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thiết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bị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thật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 AI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chỉ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giải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bài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toán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trích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xuất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số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điện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thoại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người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6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Kiến</a:t>
            </a:r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trúc</a:t>
            </a:r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tổng</a:t>
            </a:r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thể</a:t>
            </a:r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hệ</a:t>
            </a:r>
            <a:r>
              <a:rPr sz="28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thống</a:t>
            </a:r>
            <a:endParaRPr sz="2800" b="1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Picture 133" descr="h2_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188720"/>
            <a:ext cx="6595672" cy="5029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5" name="Rectangle 134"/>
          <p:cNvSpPr/>
          <p:nvPr/>
        </p:nvSpPr>
        <p:spPr>
          <a:xfrm>
            <a:off x="7269480" y="1188720"/>
            <a:ext cx="4517136" cy="1600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315200" y="1234440"/>
            <a:ext cx="4425696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Lớp tương tác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 App React Native (Android) cho 3 vai trò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Gọi REST API qua HTTPS/JSON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OCR chạy cục bộ trong App Shipper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269480" y="2926080"/>
            <a:ext cx="4517136" cy="1600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315200" y="2971800"/>
            <a:ext cx="4425696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Lớp dịch vụ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Node.js/Express trên Railway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SQLite 5 bảng, lưu trên volume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Firebase Cloud Messaging gửi thông báo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269480" y="4663440"/>
            <a:ext cx="4517136" cy="1600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315200" y="4709159"/>
            <a:ext cx="4425696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Lớp chấp hành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hỏi lệnh Backend qua Wi-Fi/HTTPS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Điều khiển 4 kênh relay: A01, A02, B01, B05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Gửi ACK kết quả về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Chức năng theo vai trò người dùng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Picture 133" descr="h5_0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90" y="1188720"/>
            <a:ext cx="1428610" cy="2788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5" name="Rectangle 134"/>
          <p:cNvSpPr/>
          <p:nvPr/>
        </p:nvSpPr>
        <p:spPr>
          <a:xfrm>
            <a:off x="402336" y="4114800"/>
            <a:ext cx="3703320" cy="21031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48056" y="4160520"/>
            <a:ext cx="3611879" cy="2011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Shipper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Đăng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ký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bằng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mã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giới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thiệu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đăng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nhập</a:t>
            </a:r>
            <a:endParaRPr sz="15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Chụp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bill, AI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gợi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ý SĐT;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kiểm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hoặc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sửa</a:t>
            </a:r>
            <a:endParaRPr sz="15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Tạo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đơn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ô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tủ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do Backend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cấp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không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OTP)</a:t>
            </a:r>
          </a:p>
        </p:txBody>
      </p:sp>
      <p:pic>
        <p:nvPicPr>
          <p:cNvPr id="137" name="Picture 136" descr="h5_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044" y="1188720"/>
            <a:ext cx="1488863" cy="2788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8" name="Rectangle 137"/>
          <p:cNvSpPr/>
          <p:nvPr/>
        </p:nvSpPr>
        <p:spPr>
          <a:xfrm>
            <a:off x="4242816" y="4114800"/>
            <a:ext cx="3703320" cy="21031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288536" y="4160520"/>
            <a:ext cx="3611879" cy="2011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Cư dân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Nhận thông báo FCM, bấm mở đúng đơn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OTP 6 số tự hiển thị, đếm ngược, cấp lại khi hết hạn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Gửi yêu cầu mở tủ</a:t>
            </a:r>
          </a:p>
        </p:txBody>
      </p:sp>
      <p:pic>
        <p:nvPicPr>
          <p:cNvPr id="140" name="Picture 139" descr="h5_2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124" y="1188720"/>
            <a:ext cx="1507663" cy="27889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1" name="Rectangle 140"/>
          <p:cNvSpPr/>
          <p:nvPr/>
        </p:nvSpPr>
        <p:spPr>
          <a:xfrm>
            <a:off x="8083296" y="4114800"/>
            <a:ext cx="3703320" cy="21031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129016" y="4160520"/>
            <a:ext cx="3611879" cy="2011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Quản trị viên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Đăng ký bằng mã Admin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Xem thống kê, trạng thái 4 ô tủ và lịch sử giao dịch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Mở khẩn cấp, theo dõi phản hồi ESP32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Luồng giao hàng và nhận hàng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02336" y="1143000"/>
            <a:ext cx="36576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GIAO HÀNG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02336" y="155448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475488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8056" y="201168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Shipper chụp bill, AI gợi ý SĐT người nhận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2450592" y="214884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2688336" y="155448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2761488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34056" y="201168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Shipper kiểm tra, sửa và xác nhận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4736592" y="214884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974336" y="155448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5047488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0056" y="201168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tìm tài khoản Cư dân, cấp ô tủ trống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7022592" y="214884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7260336" y="155448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7333488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06056" y="201168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Tạo OTP 6 số, lưu đơn READY, ghi log GỬI HÀNG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9308592" y="214884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9546336" y="155448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9619488" y="162763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92056" y="201168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FCM gửi thông báo tới điện thoại Cư dân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2336" y="3154680"/>
            <a:ext cx="36576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NHẬN HÀNG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02336" y="356616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475488" y="363931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8056" y="402336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Cư dân mở thông báo, xem OTP còn hạn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2450592" y="416052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2688336" y="356616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2761488" y="363931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34056" y="402336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Gửi yêu cầu mở tủ kèm OTP</a:t>
            </a:r>
          </a:p>
        </p:txBody>
      </p:sp>
      <p:sp>
        <p:nvSpPr>
          <p:cNvPr id="162" name="Right Arrow 161"/>
          <p:cNvSpPr/>
          <p:nvPr/>
        </p:nvSpPr>
        <p:spPr>
          <a:xfrm>
            <a:off x="4736592" y="416052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4974336" y="356616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5047488" y="363931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20056" y="402336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kiểm tra quyền, OTP, thời hạn và tạo lệnh OPEN</a:t>
            </a:r>
          </a:p>
        </p:txBody>
      </p:sp>
      <p:sp>
        <p:nvSpPr>
          <p:cNvPr id="166" name="Right Arrow 165"/>
          <p:cNvSpPr/>
          <p:nvPr/>
        </p:nvSpPr>
        <p:spPr>
          <a:xfrm>
            <a:off x="7022592" y="416052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7260336" y="356616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7333488" y="363931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06056" y="402336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hỏi lệnh mỗi 1,2 giây, bật relay đúng ô</a:t>
            </a:r>
          </a:p>
        </p:txBody>
      </p:sp>
      <p:sp>
        <p:nvSpPr>
          <p:cNvPr id="170" name="Right Arrow 169"/>
          <p:cNvSpPr/>
          <p:nvPr/>
        </p:nvSpPr>
        <p:spPr>
          <a:xfrm>
            <a:off x="9308592" y="4160520"/>
            <a:ext cx="20116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546336" y="3566160"/>
            <a:ext cx="2011680" cy="14173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9619488" y="3639312"/>
            <a:ext cx="365760" cy="3657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592056" y="4023360"/>
            <a:ext cx="192024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gửi ACK, App báo mở tủ thành công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02336" y="5257800"/>
            <a:ext cx="11384280" cy="960120"/>
          </a:xfrm>
          <a:prstGeom prst="rect">
            <a:avLst/>
          </a:prstGeom>
          <a:solidFill>
            <a:srgbClr val="E7F0F9"/>
          </a:solidFill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02920" y="5285232"/>
            <a:ext cx="1120140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Bảo mật:</a:t>
            </a: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mật khẩu băm bcrypt · JWT hạn 30 ngày · OTP hiệu lực mặc định 15 phút, lưu hash HMAC-SHA256 và bản mã AES-256-GCM · Shipper không nhận OTP · ESP32 xác thực bằng X-Device-Key, X-Device-Id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Phần cứng IoT: ESP32 và hàng đợi lệnh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Picture 13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2336" y="1188720"/>
            <a:ext cx="4314676" cy="32461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5" name="TextBox 134"/>
          <p:cNvSpPr txBox="1"/>
          <p:nvPr/>
        </p:nvSpPr>
        <p:spPr>
          <a:xfrm>
            <a:off x="402336" y="4462272"/>
            <a:ext cx="4315968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ESP32 DevKit V1 nối module relay 4 kênh</a:t>
            </a:r>
          </a:p>
        </p:txBody>
      </p:sp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02336" y="4846320"/>
          <a:ext cx="43159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Ô tủ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Kênh relay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GPIO ESP32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GPIO25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A02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GPIO26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GPIO27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B05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IN4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GPIO32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4983480" y="1143000"/>
            <a:ext cx="67665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Vòng đời lệnh OPEN/CLOSE trong Backend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83480" y="1600200"/>
            <a:ext cx="1920240" cy="5486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6940296" y="1755648"/>
            <a:ext cx="29260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7269480" y="1600200"/>
            <a:ext cx="1920240" cy="5486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CLAIMED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9226296" y="1755648"/>
            <a:ext cx="292608" cy="237744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9555480" y="1600200"/>
            <a:ext cx="1920240" cy="5486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DONE / FAILED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83480" y="2377440"/>
            <a:ext cx="6803136" cy="13258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029200" y="2423160"/>
            <a:ext cx="6711696" cy="12344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Giao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tiếp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với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Backend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Hỏi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lệnh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GET /hardware/commands/next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mỗi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1,2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giây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qua HTTPS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đặt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GPIO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mức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HIGH, CLOSE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mức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LOW;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xong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gửi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ACK qua /complete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983480" y="3794760"/>
            <a:ext cx="6803136" cy="13716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029200" y="3840480"/>
            <a:ext cx="6711696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Xử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lý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an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toàn</a:t>
            </a:r>
            <a:endParaRPr sz="1700" b="1" i="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Khởi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động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tắt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toàn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bộ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relay;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mất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Wi-Fi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giữ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nguyên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relay,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thử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kết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nối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lại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sau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10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giây</a:t>
            </a:r>
            <a:endParaRPr sz="15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Lệnh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đã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CLAIMED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quá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hạn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được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trả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về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PENDING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để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lấy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lại</a:t>
            </a:r>
            <a:endParaRPr sz="1500" b="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4983480" y="5257800"/>
            <a:ext cx="6803136" cy="96012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029200" y="5303520"/>
            <a:ext cx="671169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Vì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sao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i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dùng</a:t>
            </a:r>
            <a:r>
              <a:rPr sz="1700" b="1" i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polling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ESP32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nằm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sau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NAT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của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mạng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Wi-Fi, Backend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không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mở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được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kết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nối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ngược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không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cần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thêm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message broker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Model AI: PP-OCRv6 Small và fine-tune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02336" y="1188720"/>
            <a:ext cx="3429000" cy="5029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8056" y="1234440"/>
            <a:ext cx="333756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Mô hình nền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Detector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PP-OCRv6_small_det: tìm vùng có chữ; giữ trọng số pretrained, không huấn luyện lại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Recognizer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PP-OCRv6_small_rec: đọc chuỗi ký tự trong từng vùng; được nhóm fine-tune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Huấn luyện bằng notebook trên Kaggle; dữ liệu chia theo hóa đơn ~80% train, 10% validation, còn lại test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23360" y="1188720"/>
            <a:ext cx="4754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Fine-tune Recognizer hai giai đoạn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4023360" y="1645920"/>
          <a:ext cx="47548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Tham số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Giai đoạn A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Giai đoạn B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Dữ liệu train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MC-OCR 2021 (ảnh hóa đơn tiếng Việt)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MC-OCR + 4.000 mẫu SĐT tổng hợp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Khởi tạo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Trọng số pretrained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checkpoint giai đoạn A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epoch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Learning rate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× 10⁻⁵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× 10⁻⁵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MC-OCR thật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MC-OCR thật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Rectangle 137"/>
          <p:cNvSpPr/>
          <p:nvPr/>
        </p:nvSpPr>
        <p:spPr>
          <a:xfrm>
            <a:off x="8961120" y="1188720"/>
            <a:ext cx="2825496" cy="5029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006840" y="1234440"/>
            <a:ext cx="2734056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Xuất mô hình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Paddle2ONNX 2.1.0, ONNX opset 11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Detector: 9,43 MiB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Recognizer TopK-F32: 20,17 MiB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Từ điển: 18.708 ký tự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Dynamic/Static INT8 và Progressive ROI không được chọn vào bản 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trên Android: pipeline và chọn SĐT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402336" y="128016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87552" y="118872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24128" y="119786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Chụp</a:t>
            </a:r>
            <a:r>
              <a:rPr sz="15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5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resize: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giữ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tỉ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lệ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trong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khung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1024 × 1440, JPEG 90</a:t>
            </a:r>
          </a:p>
        </p:txBody>
      </p:sp>
      <p:sp>
        <p:nvSpPr>
          <p:cNvPr id="137" name="Oval 136"/>
          <p:cNvSpPr/>
          <p:nvPr/>
        </p:nvSpPr>
        <p:spPr>
          <a:xfrm>
            <a:off x="402336" y="20116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7552" y="192024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24128" y="192938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Tiền</a:t>
            </a:r>
            <a:r>
              <a:rPr sz="15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xử</a:t>
            </a:r>
            <a:r>
              <a:rPr sz="15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lý</a:t>
            </a:r>
            <a:r>
              <a:rPr sz="15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native (Kotlin):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chuẩn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hướng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EXIF,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tự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hiệu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chỉnh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nghiêng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trong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khoảng</a:t>
            </a:r>
            <a:r>
              <a:rPr sz="15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±35°</a:t>
            </a:r>
          </a:p>
        </p:txBody>
      </p:sp>
      <p:sp>
        <p:nvSpPr>
          <p:cNvPr id="140" name="Oval 139"/>
          <p:cNvSpPr/>
          <p:nvPr/>
        </p:nvSpPr>
        <p:spPr>
          <a:xfrm>
            <a:off x="402336" y="27432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87552" y="265176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24128" y="266090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Detector ONNX: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cạnh dài ≤ 736 px, trả hộp vùng chữ (tối đa 80)</a:t>
            </a:r>
          </a:p>
        </p:txBody>
      </p:sp>
      <p:sp>
        <p:nvSpPr>
          <p:cNvPr id="143" name="Oval 142"/>
          <p:cNvSpPr/>
          <p:nvPr/>
        </p:nvSpPr>
        <p:spPr>
          <a:xfrm>
            <a:off x="402336" y="347472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7552" y="338328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24128" y="339242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Recognizer ONNX TopK-F32: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crop 48 × 320, batch 16, giải mã CTC</a:t>
            </a:r>
          </a:p>
        </p:txBody>
      </p:sp>
      <p:sp>
        <p:nvSpPr>
          <p:cNvPr id="146" name="Oval 145"/>
          <p:cNvSpPr/>
          <p:nvPr/>
        </p:nvSpPr>
        <p:spPr>
          <a:xfrm>
            <a:off x="402336" y="420624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87552" y="411480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4128" y="412394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Receiver Selector V4: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Regex SĐT di động VN, nhận diện nhãn người nhận/người gửi, chấm điểm theo khoảng cách</a:t>
            </a:r>
          </a:p>
        </p:txBody>
      </p:sp>
      <p:sp>
        <p:nvSpPr>
          <p:cNvPr id="149" name="Oval 148"/>
          <p:cNvSpPr/>
          <p:nvPr/>
        </p:nvSpPr>
        <p:spPr>
          <a:xfrm>
            <a:off x="402336" y="4937759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7552" y="4846320"/>
            <a:ext cx="6309360" cy="64008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024128" y="4855464"/>
            <a:ext cx="6236208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Thử 4 hướng xoay:</a:t>
            </a: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0°, 90°, 270°, 180°; dừng sớm khi đạt HIGH, không đủ chắc chắn thì trả null để nhập tay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02336" y="5623560"/>
            <a:ext cx="6894576" cy="621792"/>
          </a:xfrm>
          <a:prstGeom prst="rect">
            <a:avLst/>
          </a:prstGeom>
          <a:solidFill>
            <a:srgbClr val="E7F0F9"/>
          </a:solidFill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57200" y="5632704"/>
            <a:ext cx="6784848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Suy luận chạy trên điện thoại bằng ONNX Runtime Android 1.29.0, không gửi ảnh bill lên server.</a:t>
            </a:r>
          </a:p>
        </p:txBody>
      </p:sp>
      <p:pic>
        <p:nvPicPr>
          <p:cNvPr id="154" name="Picture 153" descr="h4_0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88720"/>
            <a:ext cx="4027251" cy="42062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5" name="TextBox 154"/>
          <p:cNvSpPr txBox="1"/>
          <p:nvPr/>
        </p:nvSpPr>
        <p:spPr>
          <a:xfrm>
            <a:off x="7498079" y="5486400"/>
            <a:ext cx="4288536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App Shipper khi chụp bill và hộp thoại kết quả nhận diện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Kết quả thực nghiệm và đánh giá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02336" y="1143000"/>
            <a:ext cx="33832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AI OCR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02336" y="1600200"/>
            <a:ext cx="3383280" cy="105156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57200" y="1618488"/>
            <a:ext cx="141732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0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35/36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74519" y="1618488"/>
            <a:ext cx="1874519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 robustness chọn đúng SĐT người nhận (97,22%)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02336" y="2788920"/>
            <a:ext cx="3383280" cy="105156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57200" y="2807208"/>
            <a:ext cx="141732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0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74519" y="2807208"/>
            <a:ext cx="1874519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answered accuracy trên bộ robustness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02336" y="3977639"/>
            <a:ext cx="3383280" cy="105156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57200" y="3995927"/>
            <a:ext cx="141732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30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6/6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74519" y="3995927"/>
            <a:ext cx="1874519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 unseen có trả kết quả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2336" y="5166360"/>
            <a:ext cx="338328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Bộ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test: 36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ảnh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robustness (4 bill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gốc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9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biến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thể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chụp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6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nhãn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unseen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có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bố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cục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khác</a:t>
            </a:r>
            <a:r>
              <a:rPr sz="14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77639" y="1143000"/>
            <a:ext cx="44805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Kiểm tra hệ thống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3977639" y="1600200"/>
          <a:ext cx="4480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Hạng mục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Kết quả</a:t>
                      </a:r>
                    </a:p>
                  </a:txBody>
                  <a:tcPr marL="54864" marR="54864" marT="27432" marB="27432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Đăng ký, đăng nhập 3 vai trò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Tạo đơn và tự cấp ô tủ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Thông báo FCM, mở đúng đơn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OTP: tạo, hết hạn, cấp lại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Admin, lịch sử, mở khẩn cấp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ESP32 nhận lệnh và ACK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7863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Đã triển khai</a:t>
                      </a:r>
                    </a:p>
                  </a:txBody>
                  <a:tcPr marL="54864" marR="54864" marT="27432" marB="27432" anchor="ctr">
                    <a:solidFill>
                      <a:srgbClr val="E7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Cư dân OPEN → CLOSE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Chưa</a:t>
                      </a:r>
                      <a:r>
                        <a:rPr sz="1400" b="0" i="0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</a:t>
                      </a:r>
                      <a:r>
                        <a:rPr sz="1400" b="0" i="0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tất</a:t>
                      </a:r>
                      <a:endParaRPr sz="1400" b="0" i="0" dirty="0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7" name="Picture 146" descr="open_b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188720"/>
            <a:ext cx="3145536" cy="25103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8" name="TextBox 147"/>
          <p:cNvSpPr txBox="1"/>
          <p:nvPr/>
        </p:nvSpPr>
        <p:spPr>
          <a:xfrm>
            <a:off x="8595360" y="3749039"/>
            <a:ext cx="3236976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sz="12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Mở tủ B05 trên App Cư dân: ESP32 xác nhận lệnh, relay tương ứng được kích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41080" y="4754880"/>
            <a:ext cx="3145536" cy="146304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686800" y="4782312"/>
            <a:ext cx="3054096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7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Một lần quét mẫu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5,64 s, tổng 6,63 s; 1 hướng xoay, độ tin cậy 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19324" y="201414"/>
            <a:ext cx="6839700" cy="695400"/>
          </a:xfrm>
          <a:prstGeom prst="rect">
            <a:avLst/>
          </a:prstGeom>
          <a:solidFill>
            <a:srgbClr val="E7F0F9"/>
          </a:solidFill>
          <a:ln w="9525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marL="0" indent="0">
              <a:buNone/>
            </a:pPr>
            <a:r>
              <a:rPr sz="2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Kết luận, hạn chế và hướng phát triển</a:t>
            </a:r>
          </a:p>
        </p:txBody>
      </p:sp>
      <p:sp>
        <p:nvSpPr>
          <p:cNvPr id="133" name="Google Shape;133;p1"/>
          <p:cNvSpPr txBox="1">
            <a:spLocks noGrp="1"/>
          </p:cNvSpPr>
          <p:nvPr>
            <p:ph type="sldNum" idx="12"/>
          </p:nvPr>
        </p:nvSpPr>
        <p:spPr>
          <a:xfrm>
            <a:off x="8760378" y="6367143"/>
            <a:ext cx="30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02336" y="1188720"/>
            <a:ext cx="3657600" cy="5029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8056" y="1234440"/>
            <a:ext cx="356616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Kết luận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 là trung tâm điều phối App, AI và ESP32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Liên kết xuyên suốt: SĐT – tài khoản – đơn – ô tủ – lệnh phần cứng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OTP và vai trò kiểm tra ở server; lệnh phần cứng có ACK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chạy native trên Android, có hậu xử lý chọn số và thử nhiều hướng xoay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Đạt mức nguyên mẫu (prototype) tích hợp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270248" y="1188720"/>
            <a:ext cx="3657600" cy="5029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315968" y="1234440"/>
            <a:ext cx="356616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Hạn chế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Ở chế độ ESP32, App Cư dân chưa gửi lệnh CLOSE sau OPEN: đơn vẫn READY, relay vẫn bật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Chưa có cảm biến cửa; ACK chỉ xác nhận ESP32 đã đổi mức GPIO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Mô hình 4 ô cùng size M; dashboard chưa cập nhật thời gian thực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Bộ test AI còn nhỏ, phụ thuộc chất lượng ảnh bill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Chưa giới hạn số lần nhập OTP; ESP32 chưa xác minh chứng chỉ TLS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138160" y="1188720"/>
            <a:ext cx="3648456" cy="5029200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183880" y="1234440"/>
            <a:ext cx="3557016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9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Hướng phát triển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Bổ sung bước CLOSE cho Cư dân và kiểm thử end-to-end trên thiết bị thật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Thêm cảm biến cửa, cơ chế idempotency và khôi phục khi mất kết nối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Giới hạn số lần nhập OTP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Mở rộng ảnh nhãn thật, đánh giá lại AI và đo median, P95 latency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Xác minh chứng chỉ TLS, quản lý thay đổi device 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67BF277-439C-3CA6-79DA-60E6848A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12" y="1741023"/>
            <a:ext cx="9876376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11916"/>
      </p:ext>
    </p:extLst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1692</Words>
  <Application>Microsoft Office PowerPoint</Application>
  <PresentationFormat>Widescreen</PresentationFormat>
  <Paragraphs>232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1_Office Theme</vt:lpstr>
      <vt:lpstr>Office Theme</vt:lpstr>
      <vt:lpstr>THIẾT KẾ HỆ THỐNG SMARTLOCKER TÍCH HỢP AI OCR VÀ IOT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6</cp:revision>
  <dcterms:modified xsi:type="dcterms:W3CDTF">2026-10-15T15:56:42Z</dcterms:modified>
</cp:coreProperties>
</file>